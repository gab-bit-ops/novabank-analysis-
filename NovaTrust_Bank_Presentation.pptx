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7236" y="1188720"/>
            <a:ext cx="1554480" cy="15544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icons/university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856" y="1577340"/>
            <a:ext cx="777240" cy="777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NOVATRUST BANK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033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 — End-to-End Data Analysis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175504" y="4434840"/>
            <a:ext cx="1828800" cy="16459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47091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Power Query   •   MySQL   •   Power BI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264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Boardroom-Ready Insights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three-stage pipeline turning a raw star-schema export into a decision-ready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2598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bro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1259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90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Power Query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749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Deduplicated, standardized, and typed every field across all four tables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251960" y="2011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58750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259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090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3749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5 business questions using JOINs across the star schema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001000" y="201168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962406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s/chart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1259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21040" y="2834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321040" y="3090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8321040" y="3456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3749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KPI cards and drill-down charts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709160"/>
            <a:ext cx="11091672" cy="1508760"/>
          </a:xfrm>
          <a:prstGeom prst="roundRect">
            <a:avLst>
              <a:gd name="adj" fmla="val 7273"/>
            </a:avLst>
          </a:prstGeom>
          <a:solidFill>
            <a:srgbClr val="F4F6F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548640" y="4892040"/>
            <a:ext cx="27729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548640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3321558" y="4892040"/>
            <a:ext cx="27729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</a:t>
            </a:r>
            <a:endParaRPr lang="en-US" sz="3000" dirty="0"/>
          </a:p>
        </p:txBody>
      </p:sp>
      <p:sp>
        <p:nvSpPr>
          <p:cNvPr id="29" name="Text 24"/>
          <p:cNvSpPr txBox="1"/>
          <p:nvPr/>
        </p:nvSpPr>
        <p:spPr>
          <a:xfrm>
            <a:off x="3321558" y="548640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6094476" y="4892040"/>
            <a:ext cx="27729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31" name="Text 26"/>
          <p:cNvSpPr txBox="1"/>
          <p:nvPr/>
        </p:nvSpPr>
        <p:spPr>
          <a:xfrm>
            <a:off x="6094476" y="548640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8867394" y="4892040"/>
            <a:ext cx="27729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2,940</a:t>
            </a:r>
            <a:endParaRPr lang="en-US" sz="3000" dirty="0"/>
          </a:p>
        </p:txBody>
      </p:sp>
      <p:sp>
        <p:nvSpPr>
          <p:cNvPr id="33" name="Text 28"/>
          <p:cNvSpPr txBox="1"/>
          <p:nvPr/>
        </p:nvSpPr>
        <p:spPr>
          <a:xfrm>
            <a:off x="8867394" y="5486400"/>
            <a:ext cx="27729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Transactions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in Power 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— preparing all four star-schema tables for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8660" y="18516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cl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20231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105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 Duplicate Records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7627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60 duplicate transactions and 15 duplicate customer records, verified against each table's primary key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8660" y="293065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s/fo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3102102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8895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Standardized Text Formatting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325526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inconsistent casing and stray whitespace across branch, city, state, and product fields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8660" y="4009644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4181094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9684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Converted Date Fields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600200" y="43342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text-based dates into true Date types across all tables, enabling accurate trend analysis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08660" y="508863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icons/lin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" y="5260086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50474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Referential Integrity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1600200" y="541324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every CustomerID, BranchID, and ProductID in the transaction table matches its source dimension table — zero orphaned records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in SQL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— joining across the star schema to answer 5 business questions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 Answered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generates the highest revenue?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 contributes the most revenue?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has the highest transaction volume?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monthly revenue growing, stable, or declining?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fee waivers affect profitability?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285232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QUERY — BRANCH REVENUE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b.BranchName,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SUM(t.ActualFeeCollected_NGN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+ t.InterestIncome_NGN) AS Revenue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Fact_Transactions 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Dim_Branch b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t.BranchID = b.BranchID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b.BranchName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Revenue DESC;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Interactive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704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— KPI monitoring with segment, product, and branch drill-down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7260336" cy="4203818"/>
          </a:xfrm>
          <a:prstGeom prst="rect">
            <a:avLst/>
          </a:prstGeom>
          <a:solidFill>
            <a:srgbClr val="E3E6EF"/>
          </a:solidFill>
          <a:ln/>
        </p:spPr>
      </p:sp>
      <p:pic>
        <p:nvPicPr>
          <p:cNvPr id="6" name="Image 0" descr="/mnt/user-data/uploads/4013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7223760" cy="41672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37576" y="1911096"/>
            <a:ext cx="566928" cy="56692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8" name="Image 1" descr="icons/build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08" y="205282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714232" y="18470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714232" y="21762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037576" y="2935224"/>
            <a:ext cx="566928" cy="56692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2" name="Image 2" descr="icons/piggyban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9308" y="3076956"/>
            <a:ext cx="283464" cy="28346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14232" y="28712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2bn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714232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037576" y="3959352"/>
            <a:ext cx="566928" cy="56692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6" name="Image 3" descr="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308" y="4101084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14232" y="3895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714232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Success Rate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037576" y="4983480"/>
            <a:ext cx="566928" cy="56692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20" name="Image 4" descr="icons/he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9308" y="512521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71423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2.95 / 5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8714232" y="52486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Satisfaction Score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Priorities for the Next Review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161848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icons/crow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739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6362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the Premium Segment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019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generate the highest revenue of any segment — expand relationship banking and premium product offers here first.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4944" y="2587752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icons/piggyba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4320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5328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Deposit Products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87121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generate the highest profit by transaction type — a strong candidate for targeted promotional campaigns.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94944" y="3557016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icons/hear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71246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5021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Satisfaction Gap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38404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sits at 2.95/5 despite strong revenue — invest in customer care training and more personalized service.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4944" y="4526280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3" descr="icons/build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68172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4714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Replicate Top-Branch Practices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554480" y="480974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 Fagge and Kano Bompai lead branch revenue — study what's working there and apply it to lower-performing branches.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94944" y="5495544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4" descr="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65099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54406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Transaction Reliability</a:t>
            </a:r>
            <a:endParaRPr lang="en-US" sz="1550" dirty="0"/>
          </a:p>
        </p:txBody>
      </p:sp>
      <p:sp>
        <p:nvSpPr>
          <p:cNvPr id="23" name="Text 16"/>
          <p:cNvSpPr txBox="1"/>
          <p:nvPr/>
        </p:nvSpPr>
        <p:spPr>
          <a:xfrm>
            <a:off x="1554480" y="57790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stands at 65% — investigate the causes behind failed and pending transactions to protect customer trust.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2026-09-12T12:22:30Z</dcterms:created>
  <dcterms:modified xsi:type="dcterms:W3CDTF">2026-09-12T12:22:30Z</dcterms:modified>
</cp:coreProperties>
</file>